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790BC-AE1D-3243-85A6-76E864F825C4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00781-302A-1B47-9729-769844A53F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70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00781-302A-1B47-9729-769844A53F9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46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1E883-3F66-9F44-B205-377C8C0A4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449D884-0C2A-994C-AE4E-33511B4C2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E28CB3-7074-E544-AAD1-118085A7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251C4-19D8-964C-9C20-833AA909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F1779D-F4B6-F14C-B6FA-7A3211E4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60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E9112-2D6A-3644-9F91-1C3427BB6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F27CC4-49B2-E341-9F3C-C4F63E8E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6CD60B-9504-054E-A705-4048ED5C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D5BCF2-3E81-6A4A-AEB1-EDA128AC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9760A8-8BB2-0949-B221-CCC72E0F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4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292B28-1A81-184E-897D-8FBA82CB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FB491D-252B-1444-ACDB-B409044A2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543E3E-5E31-9B41-9768-82DF55A1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6B3963-79C7-A945-8562-00C24539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39765-7CF2-E945-B836-2BD270C5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84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BB195-F402-6D4C-9D9C-16B273B96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531D69-D8FE-F14F-AF50-880444297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D88D36-91F8-714E-879D-4F40CDE75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145692-844D-2848-A72D-C141118E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E15CE5-270B-FC4A-86EA-65A0C850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A897E1-C005-534E-B986-DE9639EB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13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0705B-906F-364E-A453-B4D491A7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DA9B38-F882-7146-A7A7-EE265EC0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174C37-A4BA-594C-9426-D218BE2F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6CB46B-41E2-FD41-9ED1-58299F175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E0517FA-3AAA-624F-BF5B-410677D04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E436AF-B797-AC46-A33A-5C787F6C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84EB0C-E05C-4240-9A6E-A207DEF2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80F43E-ECF2-8D47-863D-53EA985F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11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C185A-5B3E-2E4F-98A0-B3D94BF5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28F4D3-B6BF-984F-85E3-0C0779EA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98F02F-E61C-FE4B-9F7D-9D448856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A56208-EB12-C147-BA2D-9BC7EC2C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583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0C1A80-0D0C-F846-A352-98F952CE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1CD7A3-0254-E148-A9DA-67E2670E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A82105-099D-0742-AB0E-37410A63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37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BE73D-9E31-0347-BEEA-A5C13770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7B081F-0A5B-F54C-9BDA-C92398E4A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65F731-5D7F-354E-B124-8637B9EC3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AE3A59-8C87-5144-9FE3-F4F0D22B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CBA8BD-9A32-9C43-92D4-C907EBC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138239-D552-0046-A58B-7AD3C984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51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1929E-499E-AC49-B312-33EF17AB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3174EE6-2F56-924F-A1FF-464E848A8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F562F7-F8BB-B148-A2C5-39F7581A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92DAE1-40F4-4947-A5F7-3C4E7C11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63900E-84AE-D649-833B-4E34C4C6B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59BBD3-4B5F-F045-970E-708C8322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19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79396-9C61-A647-B996-FA9AECEB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B89FCA8-9D38-B94F-A557-2A029A3A4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588569-B620-414D-9FAC-4AA51543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5EBCB4-C14D-D546-B6D9-34D0FE9D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26A11-A0FE-724A-85EF-90DACD3B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ED2452-C41F-0946-A61E-A36A6D8A6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F4564A-8A8F-3047-9025-3DF54123C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30DBC2-BBC0-0A44-B1B7-AA08E1BB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B98712-E46F-FE41-A24D-96E06F65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D5F34-4384-E64F-9260-2955AEF5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65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4598C0-DEB1-FA43-9556-B135C697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9A0E07-F572-6243-BA93-4ECF213C7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CB05B7-511C-5542-87D3-E5E943E99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A4519-55B7-6B4D-B0CA-6CF88C76F83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69AF4-A620-BF4A-98D2-73C942C3D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A18BB3-A7F0-E14C-90EC-20991D8BE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B3FB6-8064-CD4E-A2C6-B1E60FFB2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12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5D3D91-C7ED-AC4F-BBDD-3B2FE8704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fr-FR" dirty="0">
                <a:effectLst/>
              </a:rPr>
            </a:br>
            <a:br>
              <a:rPr lang="fr-FR" dirty="0">
                <a:effectLst/>
              </a:rPr>
            </a:br>
            <a:r>
              <a:rPr lang="fr-FR" sz="4900" b="1" dirty="0" err="1">
                <a:effectLst/>
              </a:rPr>
              <a:t>VideoMAE</a:t>
            </a:r>
            <a:r>
              <a:rPr lang="fr-FR" sz="4900" b="1" dirty="0">
                <a:effectLst/>
              </a:rPr>
              <a:t>: </a:t>
            </a:r>
            <a:r>
              <a:rPr lang="fr-FR" sz="4900" b="1" dirty="0" err="1">
                <a:effectLst/>
              </a:rPr>
              <a:t>Masked</a:t>
            </a:r>
            <a:r>
              <a:rPr lang="fr-FR" sz="4900" b="1" dirty="0">
                <a:effectLst/>
              </a:rPr>
              <a:t> </a:t>
            </a:r>
            <a:r>
              <a:rPr lang="fr-FR" sz="4900" b="1" dirty="0" err="1">
                <a:effectLst/>
              </a:rPr>
              <a:t>Autoencoders</a:t>
            </a:r>
            <a:r>
              <a:rPr lang="fr-FR" sz="4900" b="1" dirty="0">
                <a:effectLst/>
              </a:rPr>
              <a:t> are Data-Efficient </a:t>
            </a:r>
            <a:r>
              <a:rPr lang="fr-FR" sz="4900" b="1" dirty="0" err="1">
                <a:effectLst/>
              </a:rPr>
              <a:t>Learners</a:t>
            </a:r>
            <a:r>
              <a:rPr lang="fr-FR" sz="4900" b="1" dirty="0">
                <a:effectLst/>
              </a:rPr>
              <a:t> for Self-</a:t>
            </a:r>
            <a:r>
              <a:rPr lang="fr-FR" sz="4900" b="1" dirty="0" err="1">
                <a:effectLst/>
              </a:rPr>
              <a:t>Supervised</a:t>
            </a:r>
            <a:r>
              <a:rPr lang="fr-FR" sz="4900" b="1" dirty="0">
                <a:effectLst/>
              </a:rPr>
              <a:t> </a:t>
            </a:r>
            <a:r>
              <a:rPr lang="fr-FR" sz="4900" b="1" dirty="0" err="1">
                <a:effectLst/>
              </a:rPr>
              <a:t>Video</a:t>
            </a:r>
            <a:r>
              <a:rPr lang="fr-FR" sz="4900" b="1" dirty="0">
                <a:effectLst/>
              </a:rPr>
              <a:t> Pre-Training</a:t>
            </a:r>
            <a:endParaRPr lang="fr-FR" b="1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FFA5B5C0-020B-274D-9FAE-4B790712FD9B}"/>
              </a:ext>
            </a:extLst>
          </p:cNvPr>
          <p:cNvSpPr txBox="1">
            <a:spLocks/>
          </p:cNvSpPr>
          <p:nvPr/>
        </p:nvSpPr>
        <p:spPr>
          <a:xfrm>
            <a:off x="1524000" y="356980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Tong et al. - 2022</a:t>
            </a:r>
          </a:p>
        </p:txBody>
      </p:sp>
    </p:spTree>
    <p:extLst>
      <p:ext uri="{BB962C8B-B14F-4D97-AF65-F5344CB8AC3E}">
        <p14:creationId xmlns:p14="http://schemas.microsoft.com/office/powerpoint/2010/main" val="35774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DC0E2-A82C-0343-A80A-5A29EFC6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Intro : pourquoi </a:t>
            </a:r>
            <a:r>
              <a:rPr lang="fr-FR" b="1" dirty="0" err="1"/>
              <a:t>VideoMAE</a:t>
            </a:r>
            <a:r>
              <a:rPr lang="fr-FR" b="1" dirty="0"/>
              <a:t>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39D84-FBDA-E84C-81B3-3390EBEA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ViT</a:t>
            </a:r>
            <a:r>
              <a:rPr lang="fr-FR" dirty="0"/>
              <a:t> ont besoin de </a:t>
            </a:r>
            <a:r>
              <a:rPr lang="fr-FR" b="1" dirty="0"/>
              <a:t>beaucoup de données annotées </a:t>
            </a:r>
            <a:r>
              <a:rPr lang="fr-FR" dirty="0"/>
              <a:t>pour être efficaces. En vidéo, il existe très peu de </a:t>
            </a:r>
            <a:r>
              <a:rPr lang="fr-FR" dirty="0" err="1"/>
              <a:t>datasets</a:t>
            </a:r>
            <a:r>
              <a:rPr lang="fr-FR" dirty="0"/>
              <a:t> annotés (coûteux). </a:t>
            </a:r>
          </a:p>
          <a:p>
            <a:r>
              <a:rPr lang="fr-FR" dirty="0"/>
              <a:t>En image, les méthodes auto-supervisées (comme MAE) ont montré des </a:t>
            </a:r>
            <a:r>
              <a:rPr lang="fr-FR" b="1" dirty="0"/>
              <a:t>représentations puissantes </a:t>
            </a:r>
            <a:r>
              <a:rPr lang="fr-FR" dirty="0"/>
              <a:t>et de </a:t>
            </a:r>
            <a:r>
              <a:rPr lang="fr-FR" b="1" dirty="0"/>
              <a:t>meilleures performances que l’apprentissage supervisé</a:t>
            </a:r>
            <a:r>
              <a:rPr lang="fr-FR" dirty="0"/>
              <a:t>, après fine-</a:t>
            </a:r>
            <a:r>
              <a:rPr lang="fr-FR" dirty="0" err="1"/>
              <a:t>tuning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➜ </a:t>
            </a:r>
            <a:r>
              <a:rPr lang="fr-FR" b="1" dirty="0" err="1"/>
              <a:t>VideoMAE</a:t>
            </a:r>
            <a:r>
              <a:rPr lang="fr-FR" b="1" dirty="0"/>
              <a:t> propose une méthode simple et efficace pour entraîner un </a:t>
            </a:r>
            <a:r>
              <a:rPr lang="fr-FR" b="1" dirty="0" err="1"/>
              <a:t>ViT</a:t>
            </a:r>
            <a:r>
              <a:rPr lang="fr-FR" b="1" dirty="0"/>
              <a:t> sur des vidéos sans labels, en appliquant du masquage.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218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D0D87-2B3D-4A4A-B772-45041E31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42738" cy="1325563"/>
          </a:xfrm>
        </p:spPr>
        <p:txBody>
          <a:bodyPr/>
          <a:lstStyle/>
          <a:p>
            <a:r>
              <a:rPr lang="fr-FR" b="1" dirty="0"/>
              <a:t>Caractéristiques des données vidéo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6592A5-E235-0A49-A959-4280E47A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Redondance temporelle : </a:t>
            </a:r>
            <a:r>
              <a:rPr lang="fr-FR" dirty="0"/>
              <a:t>Une vidéo est une séquence d’images (frames) très proches les unes des autres. Les frames consécutives changent peu ➜ </a:t>
            </a:r>
            <a:r>
              <a:rPr lang="fr-FR" b="1" dirty="0"/>
              <a:t>forte redondance visuelle</a:t>
            </a:r>
            <a:r>
              <a:rPr lang="fr-FR" dirty="0"/>
              <a:t>. ➜ On ne veut pas que le modèle sur-apprenne des détails inutiles. </a:t>
            </a:r>
          </a:p>
          <a:p>
            <a:r>
              <a:rPr lang="fr-FR" b="1" dirty="0"/>
              <a:t>Corrélation temporelle : </a:t>
            </a:r>
            <a:r>
              <a:rPr lang="fr-FR" dirty="0"/>
              <a:t>Les images successives dans une vidéo ne sont pas indépendantes. </a:t>
            </a:r>
            <a:r>
              <a:rPr lang="fr-FR" b="1" dirty="0"/>
              <a:t>Les objets, mouvements, scènes évoluent de manière cohérente dans le temps</a:t>
            </a:r>
            <a:r>
              <a:rPr lang="fr-FR" dirty="0"/>
              <a:t>. Cela crée des liens implicites entre les frames. ➜ Attention au data </a:t>
            </a:r>
            <a:r>
              <a:rPr lang="fr-FR" dirty="0" err="1"/>
              <a:t>leakage</a:t>
            </a:r>
            <a:r>
              <a:rPr lang="fr-FR" dirty="0"/>
              <a:t>. </a:t>
            </a:r>
          </a:p>
          <a:p>
            <a:endParaRPr lang="fr-FR" dirty="0"/>
          </a:p>
          <a:p>
            <a:r>
              <a:rPr lang="fr-FR" dirty="0"/>
              <a:t>Comment casser cette redondance, sans data </a:t>
            </a:r>
            <a:r>
              <a:rPr lang="fr-FR" dirty="0" err="1"/>
              <a:t>leakage</a:t>
            </a:r>
            <a:r>
              <a:rPr lang="fr-FR" dirty="0"/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187736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64778E-5C77-B84B-98F0-A9D21E84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« tube-</a:t>
            </a:r>
            <a:r>
              <a:rPr lang="fr-FR" b="1" dirty="0" err="1"/>
              <a:t>masking</a:t>
            </a:r>
            <a:r>
              <a:rPr lang="fr-FR" b="1" dirty="0"/>
              <a:t> » comme solution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A28B196-46E2-9A45-A895-E6BF8E27F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8106" y="1401209"/>
            <a:ext cx="8276501" cy="2540426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69AF394-7558-8146-A6B5-7625F47869B9}"/>
              </a:ext>
            </a:extLst>
          </p:cNvPr>
          <p:cNvSpPr txBox="1">
            <a:spLocks/>
          </p:cNvSpPr>
          <p:nvPr/>
        </p:nvSpPr>
        <p:spPr>
          <a:xfrm>
            <a:off x="889660" y="4186578"/>
            <a:ext cx="10515600" cy="20123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Grâce à la redondance temporelle : </a:t>
            </a:r>
            <a:r>
              <a:rPr lang="fr-FR" dirty="0"/>
              <a:t>on peut avoir un haut taux de masquage (90%) =&gt; cela force le modèle à apprendre des représentations pertinentes et on a besoin de moins de données et entraînement + rapide. </a:t>
            </a:r>
          </a:p>
          <a:p>
            <a:r>
              <a:rPr lang="fr-FR" dirty="0"/>
              <a:t>Pour éviter que la </a:t>
            </a:r>
            <a:r>
              <a:rPr lang="fr-FR" b="1" dirty="0"/>
              <a:t>corrélation temporelle </a:t>
            </a:r>
            <a:r>
              <a:rPr lang="fr-FR" dirty="0"/>
              <a:t>ne permette facilement de reconstruire un pixel grâce aux pixels des autres frames, on choisit le tube </a:t>
            </a:r>
            <a:r>
              <a:rPr lang="fr-FR" dirty="0" err="1"/>
              <a:t>masking</a:t>
            </a:r>
            <a:r>
              <a:rPr lang="fr-FR" dirty="0"/>
              <a:t> (la </a:t>
            </a:r>
            <a:r>
              <a:rPr lang="fr-FR" dirty="0" err="1"/>
              <a:t>masking</a:t>
            </a:r>
            <a:r>
              <a:rPr lang="fr-FR" dirty="0"/>
              <a:t> </a:t>
            </a:r>
            <a:r>
              <a:rPr lang="fr-FR" dirty="0" err="1"/>
              <a:t>map</a:t>
            </a:r>
            <a:r>
              <a:rPr lang="fr-FR" dirty="0"/>
              <a:t> est la même pour toutes les frames). </a:t>
            </a:r>
          </a:p>
        </p:txBody>
      </p:sp>
    </p:spTree>
    <p:extLst>
      <p:ext uri="{BB962C8B-B14F-4D97-AF65-F5344CB8AC3E}">
        <p14:creationId xmlns:p14="http://schemas.microsoft.com/office/powerpoint/2010/main" val="411077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10515600" cy="2508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1. Préparation des données : </a:t>
            </a:r>
            <a:r>
              <a:rPr lang="fr-FR" dirty="0"/>
              <a:t>on divise la vidéo en cube en format 2 × 16 × 16 =&gt; on découpe la vidéo sans overlap. Par exemple une vidéo de 16 frames et de taille 224 × 224 =&gt; 8 × 14 × 14 patches de taille 2 × 16 × 16 </a:t>
            </a:r>
          </a:p>
          <a:p>
            <a:pPr marL="0" indent="0">
              <a:buNone/>
            </a:pPr>
            <a:r>
              <a:rPr lang="fr-FR" dirty="0"/>
              <a:t>On fait un </a:t>
            </a:r>
            <a:r>
              <a:rPr lang="fr-FR" dirty="0" err="1"/>
              <a:t>downsampling</a:t>
            </a:r>
            <a:r>
              <a:rPr lang="fr-FR" dirty="0"/>
              <a:t> de ×2 dans le temps et ×16 dans l’espace. </a:t>
            </a:r>
          </a:p>
        </p:txBody>
      </p:sp>
    </p:spTree>
    <p:extLst>
      <p:ext uri="{BB962C8B-B14F-4D97-AF65-F5344CB8AC3E}">
        <p14:creationId xmlns:p14="http://schemas.microsoft.com/office/powerpoint/2010/main" val="259361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10515600" cy="20123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2. Tube </a:t>
            </a:r>
            <a:r>
              <a:rPr lang="fr-FR" b="1" dirty="0" err="1"/>
              <a:t>masking</a:t>
            </a:r>
            <a:r>
              <a:rPr lang="fr-FR" b="1" dirty="0"/>
              <a:t> : </a:t>
            </a:r>
            <a:r>
              <a:rPr lang="fr-FR" dirty="0"/>
              <a:t>On applique le tube </a:t>
            </a:r>
            <a:r>
              <a:rPr lang="fr-FR" dirty="0" err="1"/>
              <a:t>masking</a:t>
            </a:r>
            <a:r>
              <a:rPr lang="fr-FR" dirty="0"/>
              <a:t> avec un </a:t>
            </a:r>
            <a:r>
              <a:rPr lang="fr-FR" dirty="0" err="1"/>
              <a:t>masking</a:t>
            </a:r>
            <a:r>
              <a:rPr lang="fr-FR" dirty="0"/>
              <a:t> ratio très élevé. =&gt; permet d’apprendre une représentation pertinente des données </a:t>
            </a:r>
          </a:p>
          <a:p>
            <a:r>
              <a:rPr lang="fr-FR" dirty="0"/>
              <a:t> C’est-à-dire : pour chaque vidéo on choisit quels cubes seront gardés (généralement 10%) et lesquels seront masqués. On ne conserve que les 10%. (Réduit la quantité de data à donner au modèle =&gt; plus rapide)</a:t>
            </a:r>
          </a:p>
        </p:txBody>
      </p:sp>
    </p:spTree>
    <p:extLst>
      <p:ext uri="{BB962C8B-B14F-4D97-AF65-F5344CB8AC3E}">
        <p14:creationId xmlns:p14="http://schemas.microsoft.com/office/powerpoint/2010/main" val="391094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10515600" cy="20123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3. Création des </a:t>
            </a:r>
            <a:r>
              <a:rPr lang="fr-FR" b="1" dirty="0" err="1"/>
              <a:t>tokens</a:t>
            </a:r>
            <a:r>
              <a:rPr lang="fr-FR" b="1" dirty="0"/>
              <a:t> pour les cubes gardés : </a:t>
            </a:r>
            <a:r>
              <a:rPr lang="fr-FR" dirty="0"/>
              <a:t>Chaque cube est </a:t>
            </a:r>
            <a:r>
              <a:rPr lang="fr-FR" dirty="0" err="1"/>
              <a:t>flatten</a:t>
            </a:r>
            <a:r>
              <a:rPr lang="fr-FR" dirty="0"/>
              <a:t> =&gt; donne un vecteur de taille 2 × 16 × 16 × 3 = 1536 valeurs (pixels RGB)</a:t>
            </a:r>
          </a:p>
          <a:p>
            <a:r>
              <a:rPr lang="fr-FR" dirty="0"/>
              <a:t>On projette ce vecteur avec une couche linéaire pour avoir un vecteur de dimension fixe (ex : 768) = 1 </a:t>
            </a:r>
            <a:r>
              <a:rPr lang="fr-FR" dirty="0" err="1"/>
              <a:t>token</a:t>
            </a:r>
            <a:r>
              <a:rPr lang="fr-FR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42095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10747820" cy="2508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4. </a:t>
            </a:r>
            <a:r>
              <a:rPr lang="fr-FR" b="1" dirty="0" err="1"/>
              <a:t>Encoding</a:t>
            </a:r>
            <a:r>
              <a:rPr lang="fr-FR" b="1" dirty="0"/>
              <a:t> : </a:t>
            </a:r>
            <a:r>
              <a:rPr lang="fr-FR" dirty="0"/>
              <a:t>Les </a:t>
            </a:r>
            <a:r>
              <a:rPr lang="fr-FR" dirty="0" err="1"/>
              <a:t>tokens</a:t>
            </a:r>
            <a:r>
              <a:rPr lang="fr-FR" dirty="0"/>
              <a:t> visibles (non masqués) sont passés dans le transformer Encoder. Il produit des représentations latentes pour ces </a:t>
            </a:r>
            <a:r>
              <a:rPr lang="fr-FR" dirty="0" err="1"/>
              <a:t>tokens</a:t>
            </a:r>
            <a:r>
              <a:rPr lang="fr-FR" dirty="0"/>
              <a:t>. L’encoder est composé de plusieurs blocs Transformer, avec : </a:t>
            </a:r>
            <a:r>
              <a:rPr lang="fr-FR" b="1" dirty="0"/>
              <a:t>Multi-Head Self-Attention, </a:t>
            </a:r>
            <a:r>
              <a:rPr lang="fr-FR" b="1" dirty="0" err="1"/>
              <a:t>Feed-Forward</a:t>
            </a:r>
            <a:r>
              <a:rPr lang="fr-FR" b="1" dirty="0"/>
              <a:t> Networks, </a:t>
            </a:r>
            <a:r>
              <a:rPr lang="fr-FR" dirty="0"/>
              <a:t>Normalisations et autres connexions</a:t>
            </a:r>
          </a:p>
          <a:p>
            <a:r>
              <a:rPr lang="fr-FR" dirty="0"/>
              <a:t>Le Multi-Head Self-Attention permet à chaque </a:t>
            </a:r>
            <a:r>
              <a:rPr lang="fr-FR" dirty="0" err="1"/>
              <a:t>token</a:t>
            </a:r>
            <a:r>
              <a:rPr lang="fr-FR" dirty="0"/>
              <a:t> d’</a:t>
            </a:r>
            <a:r>
              <a:rPr lang="fr-FR" dirty="0" err="1"/>
              <a:t>intéragir</a:t>
            </a:r>
            <a:r>
              <a:rPr lang="fr-FR" dirty="0"/>
              <a:t> avec tous les autres, temporellement ou spatialement. </a:t>
            </a:r>
          </a:p>
          <a:p>
            <a:r>
              <a:rPr lang="fr-FR" dirty="0"/>
              <a:t>Le résultat : des </a:t>
            </a:r>
            <a:r>
              <a:rPr lang="fr-FR" b="1" dirty="0"/>
              <a:t>représentations latentes riches</a:t>
            </a:r>
            <a:r>
              <a:rPr lang="fr-FR" dirty="0"/>
              <a:t> pour les </a:t>
            </a:r>
            <a:r>
              <a:rPr lang="fr-FR" dirty="0" err="1"/>
              <a:t>tokens</a:t>
            </a:r>
            <a:r>
              <a:rPr lang="fr-FR" dirty="0"/>
              <a:t> visibles.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589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10515600" cy="2012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5. </a:t>
            </a:r>
            <a:r>
              <a:rPr lang="fr-FR" b="1" dirty="0" err="1"/>
              <a:t>Decoding</a:t>
            </a:r>
            <a:r>
              <a:rPr lang="fr-FR" b="1" dirty="0"/>
              <a:t> =&gt; Reconstruction : </a:t>
            </a:r>
            <a:r>
              <a:rPr lang="fr-FR" dirty="0"/>
              <a:t>A partir des reconstructions latentes, on veut reconstruire TOUS les </a:t>
            </a:r>
            <a:r>
              <a:rPr lang="fr-FR" dirty="0" err="1"/>
              <a:t>tokens</a:t>
            </a:r>
            <a:r>
              <a:rPr lang="fr-FR" dirty="0"/>
              <a:t> (pas que ceux masqués) pour reconstruire la vidéo au complet. On utilise un </a:t>
            </a:r>
            <a:r>
              <a:rPr lang="fr-FR" dirty="0" err="1"/>
              <a:t>decoder</a:t>
            </a:r>
            <a:r>
              <a:rPr lang="fr-FR" dirty="0"/>
              <a:t> léger pour reconstruire les pixels masqués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280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85FAC-B057-7348-8F6A-98CE07EA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Une architecture asymétrique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5F1A92B-2CB0-1C4B-9EC8-B248F2484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178" y="1488808"/>
            <a:ext cx="8698000" cy="2210742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CF04DEE-C928-DB43-A364-A8EBB10981DD}"/>
              </a:ext>
            </a:extLst>
          </p:cNvPr>
          <p:cNvSpPr txBox="1">
            <a:spLocks/>
          </p:cNvSpPr>
          <p:nvPr/>
        </p:nvSpPr>
        <p:spPr>
          <a:xfrm>
            <a:off x="605980" y="3984697"/>
            <a:ext cx="8159648" cy="20123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6. Calcul de la </a:t>
            </a:r>
            <a:r>
              <a:rPr lang="fr-FR" b="1" dirty="0" err="1"/>
              <a:t>loss</a:t>
            </a:r>
            <a:r>
              <a:rPr lang="fr-FR" b="1" dirty="0"/>
              <a:t> : </a:t>
            </a:r>
            <a:r>
              <a:rPr lang="fr-FR" dirty="0"/>
              <a:t>On calcule la </a:t>
            </a:r>
            <a:r>
              <a:rPr lang="fr-FR" dirty="0" err="1"/>
              <a:t>loss</a:t>
            </a:r>
            <a:r>
              <a:rPr lang="fr-FR" dirty="0"/>
              <a:t> (MSE) =&gt; entre les cubes originaux masqués et les cubes reconstruits. </a:t>
            </a:r>
          </a:p>
          <a:p>
            <a:r>
              <a:rPr lang="fr-FR" b="1" dirty="0"/>
              <a:t>7. </a:t>
            </a:r>
            <a:r>
              <a:rPr lang="fr-FR" b="1" dirty="0" err="1"/>
              <a:t>Backward</a:t>
            </a:r>
            <a:r>
              <a:rPr lang="fr-FR" b="1" dirty="0"/>
              <a:t> </a:t>
            </a:r>
            <a:r>
              <a:rPr lang="fr-FR" b="1" dirty="0" err="1"/>
              <a:t>pass</a:t>
            </a:r>
            <a:r>
              <a:rPr lang="fr-FR" b="1" dirty="0"/>
              <a:t>… </a:t>
            </a:r>
            <a:r>
              <a:rPr lang="fr-FR" dirty="0"/>
              <a:t>(comme un </a:t>
            </a:r>
            <a:r>
              <a:rPr lang="fr-FR" dirty="0" err="1"/>
              <a:t>RdN</a:t>
            </a:r>
            <a:r>
              <a:rPr lang="fr-FR" dirty="0"/>
              <a:t> classique)</a:t>
            </a:r>
          </a:p>
          <a:p>
            <a:r>
              <a:rPr lang="fr-FR" dirty="0"/>
              <a:t>Le modèle apprend à </a:t>
            </a:r>
            <a:r>
              <a:rPr lang="fr-FR" b="1" dirty="0"/>
              <a:t>reconstruire des vidéos à partir d’informations très partielles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57A59B3-B06E-6D42-8082-51939309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838" y="3848388"/>
            <a:ext cx="3001160" cy="82600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A3AA62D-F31D-2042-BAB6-03B2393F0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91" y="4759710"/>
            <a:ext cx="2381129" cy="196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3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CB4E2-8BA4-E146-9092-1CCE5AB4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Et après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3B25B3-87DB-264E-82FC-39D763C4C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récupère un </a:t>
            </a:r>
            <a:r>
              <a:rPr lang="fr-FR" b="1" dirty="0"/>
              <a:t>modèle pré-entraîné </a:t>
            </a:r>
            <a:r>
              <a:rPr lang="fr-FR" dirty="0"/>
              <a:t>: Il a appris des représentations générales utiles, sans labels.</a:t>
            </a:r>
          </a:p>
          <a:p>
            <a:r>
              <a:rPr lang="fr-FR" dirty="0"/>
              <a:t>On peut ensuite le </a:t>
            </a:r>
            <a:r>
              <a:rPr lang="fr-FR" b="1" dirty="0"/>
              <a:t>fine-tuner</a:t>
            </a:r>
            <a:r>
              <a:rPr lang="fr-FR" dirty="0"/>
              <a:t> : On lui fournit quelques vidéos annotées, il apprend à les associer à des classes d’actions.</a:t>
            </a:r>
          </a:p>
          <a:p>
            <a:r>
              <a:rPr lang="fr-FR" dirty="0"/>
              <a:t>Plus besoin de milliers de labels. Le modèle est rapide à adapter, performant, et réutilisable sur d'autres tâches.</a:t>
            </a:r>
          </a:p>
          <a:p>
            <a:r>
              <a:rPr lang="fr-FR" dirty="0"/>
              <a:t>Techniquement : on garde l’encoder pré-entraîné, </a:t>
            </a:r>
            <a:r>
              <a:rPr lang="fr-FR" b="1" dirty="0"/>
              <a:t>on ajoute une tête MLP</a:t>
            </a:r>
            <a:r>
              <a:rPr lang="fr-FR" dirty="0"/>
              <a:t> (qui prend en entrée un </a:t>
            </a:r>
            <a:r>
              <a:rPr lang="fr-FR" dirty="0" err="1"/>
              <a:t>token</a:t>
            </a:r>
            <a:r>
              <a:rPr lang="fr-FR" dirty="0"/>
              <a:t>) avec souvent une ou des couches linéaires et une </a:t>
            </a:r>
            <a:r>
              <a:rPr lang="fr-FR" b="1" dirty="0"/>
              <a:t>couche </a:t>
            </a:r>
            <a:r>
              <a:rPr lang="fr-FR" b="1" dirty="0" err="1"/>
              <a:t>softmax</a:t>
            </a:r>
            <a:r>
              <a:rPr lang="fr-FR" b="1" dirty="0"/>
              <a:t> </a:t>
            </a:r>
            <a:r>
              <a:rPr lang="fr-FR" dirty="0"/>
              <a:t>=&gt; on récup un vecteur de la taille du nombre de classes.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744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53C72-4BB9-2F4C-B97A-93D82DD8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Résultats de </a:t>
            </a:r>
            <a:r>
              <a:rPr lang="fr-FR" b="1" dirty="0" err="1"/>
              <a:t>VideoMAE</a:t>
            </a:r>
            <a:r>
              <a:rPr lang="fr-FR" b="1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D852DC-9044-CD47-940C-693DBB38F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3"/>
            <a:ext cx="7727731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Tests sur Something-Something V2, Kinetics-400 (en transfert : UCF101, HMDB51) </a:t>
            </a:r>
          </a:p>
          <a:p>
            <a:r>
              <a:rPr lang="fr-FR" dirty="0"/>
              <a:t>Meilleur que l’entraînement supervisé classique, même avec moins de données. </a:t>
            </a:r>
          </a:p>
          <a:p>
            <a:r>
              <a:rPr lang="fr-FR" dirty="0"/>
              <a:t>Fonctionne avec un masquage très élevé (90–95%) sans perte de performance</a:t>
            </a:r>
          </a:p>
          <a:p>
            <a:r>
              <a:rPr lang="fr-FR" dirty="0"/>
              <a:t>Apprend des représentations générales réutilisables sur d'autres tâches</a:t>
            </a:r>
          </a:p>
          <a:p>
            <a:r>
              <a:rPr lang="fr-FR" dirty="0"/>
              <a:t>Très bonnes performances en transfert :</a:t>
            </a:r>
          </a:p>
          <a:p>
            <a:r>
              <a:rPr lang="fr-FR" dirty="0" err="1"/>
              <a:t>Scalable</a:t>
            </a:r>
            <a:r>
              <a:rPr lang="fr-FR" dirty="0"/>
              <a:t> : plus le modèle est gros, meilleures sont les performances (</a:t>
            </a:r>
            <a:r>
              <a:rPr lang="fr-FR" dirty="0" err="1"/>
              <a:t>ViT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BC39C0-8A37-834F-8DF3-646086E3F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19" y="4603906"/>
            <a:ext cx="3293461" cy="13706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ABFC167-CAD1-C047-A238-42F56310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319" y="2041379"/>
            <a:ext cx="3529942" cy="21792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F88F515-FDB0-2C45-B414-14CBE977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751" y="257088"/>
            <a:ext cx="5482423" cy="140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5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C1EF4-0138-0344-B91F-6097C775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Conclusion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526EC6-48AB-E846-ABB6-DAE818094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989" y="2083128"/>
            <a:ext cx="11070021" cy="4774872"/>
          </a:xfrm>
        </p:spPr>
        <p:txBody>
          <a:bodyPr>
            <a:normAutofit/>
          </a:bodyPr>
          <a:lstStyle/>
          <a:p>
            <a:r>
              <a:rPr lang="fr-FR" b="1" dirty="0"/>
              <a:t>1 –</a:t>
            </a:r>
            <a:r>
              <a:rPr lang="fr-FR" dirty="0"/>
              <a:t> Très bonnes performances avec </a:t>
            </a:r>
            <a:r>
              <a:rPr lang="fr-FR" b="1" dirty="0"/>
              <a:t>un </a:t>
            </a:r>
            <a:r>
              <a:rPr lang="fr-FR" b="1" dirty="0" err="1"/>
              <a:t>masking</a:t>
            </a:r>
            <a:r>
              <a:rPr lang="fr-FR" b="1" dirty="0"/>
              <a:t> ratio élevé </a:t>
            </a:r>
            <a:r>
              <a:rPr lang="fr-FR" dirty="0"/>
              <a:t>➜ grâce à la </a:t>
            </a:r>
            <a:r>
              <a:rPr lang="fr-FR" b="1" dirty="0"/>
              <a:t>redondance temporelle </a:t>
            </a:r>
            <a:r>
              <a:rPr lang="fr-FR" dirty="0"/>
              <a:t>(permet un </a:t>
            </a:r>
            <a:r>
              <a:rPr lang="fr-FR" dirty="0" err="1"/>
              <a:t>masking</a:t>
            </a:r>
            <a:r>
              <a:rPr lang="fr-FR" dirty="0"/>
              <a:t> ratio supérieur aux images)</a:t>
            </a:r>
          </a:p>
          <a:p>
            <a:r>
              <a:rPr lang="fr-FR" b="1" dirty="0"/>
              <a:t>2 – </a:t>
            </a:r>
            <a:r>
              <a:rPr lang="fr-FR" dirty="0"/>
              <a:t>Très bonnes performances même avec des </a:t>
            </a:r>
            <a:r>
              <a:rPr lang="fr-FR" b="1" dirty="0"/>
              <a:t>petits </a:t>
            </a:r>
            <a:r>
              <a:rPr lang="fr-FR" b="1" dirty="0" err="1"/>
              <a:t>datasets</a:t>
            </a:r>
            <a:r>
              <a:rPr lang="fr-FR" b="1" dirty="0"/>
              <a:t> </a:t>
            </a:r>
            <a:r>
              <a:rPr lang="fr-FR" dirty="0"/>
              <a:t>(3k-4k vidéos) sans data supplémentaire (La reconstruction vidéo est une tâche assez riche pour forcer une apprentissage fort et général)</a:t>
            </a:r>
          </a:p>
          <a:p>
            <a:r>
              <a:rPr lang="fr-FR" b="1" dirty="0"/>
              <a:t>3 –</a:t>
            </a:r>
            <a:r>
              <a:rPr lang="fr-FR" dirty="0"/>
              <a:t> </a:t>
            </a:r>
            <a:r>
              <a:rPr lang="fr-FR" b="1" dirty="0"/>
              <a:t>Data </a:t>
            </a:r>
            <a:r>
              <a:rPr lang="fr-FR" b="1" dirty="0" err="1"/>
              <a:t>quality</a:t>
            </a:r>
            <a:r>
              <a:rPr lang="fr-FR" b="1" dirty="0"/>
              <a:t> &gt; Data </a:t>
            </a:r>
            <a:r>
              <a:rPr lang="fr-FR" b="1" dirty="0" err="1"/>
              <a:t>quantity</a:t>
            </a:r>
            <a:r>
              <a:rPr lang="fr-FR" b="1" dirty="0"/>
              <a:t> </a:t>
            </a:r>
            <a:r>
              <a:rPr lang="fr-FR" dirty="0"/>
              <a:t>: En Self-</a:t>
            </a:r>
            <a:r>
              <a:rPr lang="fr-FR" dirty="0" err="1"/>
              <a:t>Supervised</a:t>
            </a:r>
            <a:r>
              <a:rPr lang="fr-FR" dirty="0"/>
              <a:t> </a:t>
            </a:r>
            <a:r>
              <a:rPr lang="fr-FR" dirty="0" err="1"/>
              <a:t>Video</a:t>
            </a:r>
            <a:r>
              <a:rPr lang="fr-FR" dirty="0"/>
              <a:t> </a:t>
            </a:r>
            <a:r>
              <a:rPr lang="fr-FR" dirty="0" err="1"/>
              <a:t>Pretraining</a:t>
            </a:r>
            <a:r>
              <a:rPr lang="fr-FR" dirty="0"/>
              <a:t> (SSVP), il vaut mieux des bonnes vidéos bien choisies</a:t>
            </a:r>
            <a:br>
              <a:rPr lang="fr-FR" dirty="0"/>
            </a:br>
            <a:r>
              <a:rPr lang="fr-FR" dirty="0"/>
              <a:t>qu’un énorme volume de données bruitées (surtout lorsqu’on </a:t>
            </a:r>
            <a:r>
              <a:rPr lang="fr-FR" b="1" dirty="0"/>
              <a:t>transfère</a:t>
            </a:r>
            <a:r>
              <a:rPr lang="fr-FR" dirty="0"/>
              <a:t> le modèle vers un autre domaine : </a:t>
            </a:r>
            <a:r>
              <a:rPr lang="fr-FR" dirty="0" err="1"/>
              <a:t>domain</a:t>
            </a:r>
            <a:r>
              <a:rPr lang="fr-FR" dirty="0"/>
              <a:t> shift)</a:t>
            </a: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9BC004-A214-F541-A174-68B1F391BA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315"/>
          <a:stretch/>
        </p:blipFill>
        <p:spPr>
          <a:xfrm>
            <a:off x="4577363" y="298255"/>
            <a:ext cx="3037272" cy="14921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0AC7A5F-354D-344E-8B50-740F89DC4E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47"/>
          <a:stretch/>
        </p:blipFill>
        <p:spPr>
          <a:xfrm>
            <a:off x="7965581" y="365125"/>
            <a:ext cx="3037272" cy="135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921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945</Words>
  <Application>Microsoft Macintosh PowerPoint</Application>
  <PresentationFormat>Grand écran</PresentationFormat>
  <Paragraphs>51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  VideoMAE: Masked Autoencoders are Data-Efficient Learners for Self-Supervised Video Pre-Training</vt:lpstr>
      <vt:lpstr>Intro : pourquoi VideoMAE ? </vt:lpstr>
      <vt:lpstr>Caractéristiques des données vidéo </vt:lpstr>
      <vt:lpstr>Le « tube-masking » comme solution </vt:lpstr>
      <vt:lpstr>Une architecture asymétrique</vt:lpstr>
      <vt:lpstr>Une architecture asymétrique</vt:lpstr>
      <vt:lpstr>Une architecture asymétrique</vt:lpstr>
      <vt:lpstr>Une architecture asymétrique</vt:lpstr>
      <vt:lpstr>Une architecture asymétrique</vt:lpstr>
      <vt:lpstr>Une architecture asymétrique</vt:lpstr>
      <vt:lpstr>Et après ? </vt:lpstr>
      <vt:lpstr>Résultats de VideoMAE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VideoMAE: Masked Autoencoders are Data-Efficient Learners for Self-Supervised Video Pre-Training</dc:title>
  <dc:creator>Mafalda FRERE</dc:creator>
  <cp:lastModifiedBy>Mafalda FRERE</cp:lastModifiedBy>
  <cp:revision>20</cp:revision>
  <dcterms:created xsi:type="dcterms:W3CDTF">2025-11-16T15:28:00Z</dcterms:created>
  <dcterms:modified xsi:type="dcterms:W3CDTF">2025-11-17T08:31:18Z</dcterms:modified>
</cp:coreProperties>
</file>