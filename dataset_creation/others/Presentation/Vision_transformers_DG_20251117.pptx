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2" d="100"/>
          <a:sy n="72" d="100"/>
        </p:scale>
        <p:origin x="855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510C4-32A2-326B-6A48-54A724B7E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CE8160-67EF-A510-9C9A-5BDD11BFF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5D024-8998-CF29-C48A-64B3DC573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338B-5EDC-49AB-92DA-D4D3D3CB7B4E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56A03-4196-6508-FD0B-B91B86A9F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D9EBD-0398-752E-65F2-F4A3765FC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49C73-BB88-453C-91A1-283D47B755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5767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08DF9-591F-D9C1-B0BB-598752688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7246D-7F95-7F74-C517-0613CBC3F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AAE7E-9F0B-A9A2-577C-7F713DBE1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338B-5EDC-49AB-92DA-D4D3D3CB7B4E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09C45-704B-D3E9-3407-ECA69E5A8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4D273-8A18-2DAF-3C8E-E1F1199F8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49C73-BB88-453C-91A1-283D47B755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6267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688DC-AD39-3119-4110-8914D5F20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02120-6608-B1E6-7BDA-0BCACC679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FFD7D-C6BC-9838-3D8C-043F36CFC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338B-5EDC-49AB-92DA-D4D3D3CB7B4E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8EA50-223E-B14D-4422-D585FB6B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0A137-C08A-C111-5736-691566CAA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49C73-BB88-453C-91A1-283D47B755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872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6584B-4D66-1C4D-3154-8128D1A3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31D88-E543-7B96-DF0A-F79907AF2B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37911E-F69B-8B64-60F9-516C5E057F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E301F-E804-ECC4-24C9-3A62B5C77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338B-5EDC-49AB-92DA-D4D3D3CB7B4E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DFE44-2829-CCEA-9F09-5E9E45B02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59034-AE05-E7D7-56A4-71F5257F9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49C73-BB88-453C-91A1-283D47B755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9879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020F0-7BC7-B3CD-843D-6B6829BD1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918CF-7743-E94B-024E-484978B52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9019FA-BD27-C032-2FEC-70CF4B0E1D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95E96F-30EA-C4FD-799C-E684FF3E53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4DD2B0-AB02-F1C1-5109-7BDC8A37D2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24CDA3-08E2-7B7A-0C11-D861119A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338B-5EDC-49AB-92DA-D4D3D3CB7B4E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810472-F206-320D-D43B-3F8D6A619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88CE7C-DBE6-426D-25B8-2C104357D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49C73-BB88-453C-91A1-283D47B755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3847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B678A-8358-578F-0536-E08F3E873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8E5566-58F8-204D-CD3A-62CFEBEE1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338B-5EDC-49AB-92DA-D4D3D3CB7B4E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8F8BBB-3DD8-3700-ACBA-E6094EE36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855597-18E5-A0B2-B34A-3D27FC0A9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49C73-BB88-453C-91A1-283D47B755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7914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14FAB3-ED46-6DCA-2935-0D414AB04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338B-5EDC-49AB-92DA-D4D3D3CB7B4E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2AA2AB-3FB6-802B-1B9C-0F0321554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A0F45-BDC3-6FC9-D91C-ED33A2361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49C73-BB88-453C-91A1-283D47B755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2306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E0DB5-05C0-B07A-8D5F-50ABE76A3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15D89-5CAF-2163-7000-1D4BBBBDB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FBE68F-D99B-0E56-B04B-1E273E302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01B74-F595-8BBD-3221-8CC72FB9D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338B-5EDC-49AB-92DA-D4D3D3CB7B4E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F5C01-7268-3D9A-A9DC-B7F5CDAB4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D6A65-8A74-0A97-203E-07BB7624E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49C73-BB88-453C-91A1-283D47B755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7282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DB998-E069-235C-B475-42FB75A59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F9B40C-8E4A-F32F-906F-F0B5F43920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613E40-39A2-3954-FEC9-500C6540C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13882-B08B-F2A7-EFE9-029AD44D3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338B-5EDC-49AB-92DA-D4D3D3CB7B4E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4339AD-7353-AD85-F641-58CEE027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56448-F420-1A94-7A8F-1AA60B188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49C73-BB88-453C-91A1-283D47B755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7121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21C22-AD5E-8C94-D76A-DC1EAA115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27EDB-FD36-A3E2-7065-583DA4B9E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C1E72-2426-7E2D-AE67-257064647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338B-5EDC-49AB-92DA-D4D3D3CB7B4E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C1195-71D6-7248-BAAC-BAEDCF1CE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6C166-642A-7832-28C6-9A2965B8B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49C73-BB88-453C-91A1-283D47B755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964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1DD2DF-31FD-D60F-BD48-E2587D2462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40F5E5-4A5B-AB96-AC83-AE873744D1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1094C-5440-FEFE-3C2B-2E92107D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338B-5EDC-49AB-92DA-D4D3D3CB7B4E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7A14C-66A7-718B-73ED-48E9D9EF6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654AC-EB4A-9591-519F-135015241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49C73-BB88-453C-91A1-283D47B755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0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D37600-28E9-5657-C1AC-B4BAA6D9E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C474C-89E8-C3E9-2005-C6CE570EF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64D73-31BF-5DFC-FECB-E1AB5262EE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6E338B-5EDC-49AB-92DA-D4D3D3CB7B4E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7103C-CE30-416D-4C34-02078DE93A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8E27A-D59E-469A-D364-F718FC8A68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249C73-BB88-453C-91A1-283D47B755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855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D4D16B-C135-10D5-6E74-4099C4F4C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527" y="1688513"/>
            <a:ext cx="9030960" cy="11050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D4BA37-2F24-9A43-8437-7542A0B5F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17" y="2846576"/>
            <a:ext cx="7916380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728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E69E-94D3-1160-8761-1649E8A92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u="sng" dirty="0"/>
              <a:t>Intro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0EB1D-1776-A650-F448-3C9AE5E89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Self-attention-based architectures widely used in NLP </a:t>
            </a:r>
          </a:p>
          <a:p>
            <a:pPr lvl="1"/>
            <a:r>
              <a:rPr lang="en-GB" dirty="0"/>
              <a:t>Give model notions of position of words in a sentence </a:t>
            </a:r>
          </a:p>
          <a:p>
            <a:pPr lvl="1"/>
            <a:r>
              <a:rPr lang="en-GB" dirty="0"/>
              <a:t>Pre trained on large corpus and fined tuned for small specific tasks </a:t>
            </a:r>
          </a:p>
          <a:p>
            <a:r>
              <a:rPr lang="en-GB" dirty="0"/>
              <a:t>CNN remains dominant in computer vision </a:t>
            </a:r>
          </a:p>
          <a:p>
            <a:pPr lvl="1"/>
            <a:r>
              <a:rPr lang="en-GB" dirty="0"/>
              <a:t>Some models try to implement the Self-attention but unsuccessfully</a:t>
            </a:r>
          </a:p>
          <a:p>
            <a:r>
              <a:rPr lang="en-GB" dirty="0"/>
              <a:t>Goal of the article = implement a standard transformer (for NLP) directly to image with the fewest possible modification </a:t>
            </a:r>
          </a:p>
          <a:p>
            <a:pPr lvl="1"/>
            <a:r>
              <a:rPr lang="en-GB" dirty="0"/>
              <a:t>Converted an image into token (patches) similar to words </a:t>
            </a:r>
          </a:p>
          <a:p>
            <a:pPr lvl="1"/>
            <a:r>
              <a:rPr lang="en-GB" dirty="0"/>
              <a:t>Flattening to a linear vector (similar to word embedding) </a:t>
            </a:r>
          </a:p>
          <a:p>
            <a:pPr lvl="1"/>
            <a:r>
              <a:rPr lang="en-GB" dirty="0"/>
              <a:t>Supervised learning </a:t>
            </a:r>
          </a:p>
          <a:p>
            <a:pPr lvl="1"/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6984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CBE87-7FE3-D697-1AB3-361B9CB44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295" y="367886"/>
            <a:ext cx="11015869" cy="4351338"/>
          </a:xfrm>
        </p:spPr>
        <p:txBody>
          <a:bodyPr/>
          <a:lstStyle/>
          <a:p>
            <a:r>
              <a:rPr lang="en-GB" dirty="0"/>
              <a:t>Trained on medium dataset ImageNet without strong regularisation </a:t>
            </a:r>
          </a:p>
          <a:p>
            <a:pPr lvl="1"/>
            <a:r>
              <a:rPr lang="en-GB" dirty="0"/>
              <a:t>Modest accuracies (not very good)</a:t>
            </a:r>
          </a:p>
          <a:p>
            <a:pPr lvl="1"/>
            <a:r>
              <a:rPr lang="en-GB" dirty="0"/>
              <a:t>Transformers lack translation equivariance and locality </a:t>
            </a:r>
          </a:p>
          <a:p>
            <a:pPr lvl="1"/>
            <a:r>
              <a:rPr lang="en-GB" dirty="0"/>
              <a:t>They don’t generalize well </a:t>
            </a:r>
          </a:p>
          <a:p>
            <a:r>
              <a:rPr lang="en-GB" dirty="0"/>
              <a:t>When trained on big data set</a:t>
            </a:r>
          </a:p>
          <a:p>
            <a:pPr lvl="1"/>
            <a:r>
              <a:rPr lang="en-GB" dirty="0"/>
              <a:t>Excellent results </a:t>
            </a:r>
          </a:p>
          <a:p>
            <a:pPr lvl="1"/>
            <a:r>
              <a:rPr lang="en-GB" dirty="0"/>
              <a:t>Around 90% accuracy</a:t>
            </a:r>
          </a:p>
        </p:txBody>
      </p:sp>
    </p:spTree>
    <p:extLst>
      <p:ext uri="{BB962C8B-B14F-4D97-AF65-F5344CB8AC3E}">
        <p14:creationId xmlns:p14="http://schemas.microsoft.com/office/powerpoint/2010/main" val="1397709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FEE7AE-F90A-D30B-8DDA-67911BABC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546" y="245214"/>
            <a:ext cx="9554908" cy="60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007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BCDB-D480-842E-0F43-0D5F9F4CB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u="sng" dirty="0"/>
              <a:t>Method : Transformation of the pictures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7561B-E0D3-04AA-FD1B-118029BA3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follow the original Transformer (Vaswani et al., 2017)</a:t>
            </a:r>
          </a:p>
          <a:p>
            <a:pPr lvl="1"/>
            <a:r>
              <a:rPr lang="en-GB" dirty="0"/>
              <a:t>Works with 1D input </a:t>
            </a:r>
          </a:p>
          <a:p>
            <a:r>
              <a:rPr lang="en-GB" dirty="0"/>
              <a:t>Turn the image from 2D with C channel into N patches with C channel</a:t>
            </a:r>
          </a:p>
          <a:p>
            <a:pPr lvl="1"/>
            <a:r>
              <a:rPr lang="en-GB" dirty="0"/>
              <a:t>N = Height * Width/Patches_size²</a:t>
            </a:r>
          </a:p>
          <a:p>
            <a:r>
              <a:rPr lang="en-GB" dirty="0"/>
              <a:t>Flatten the patches and pass it through a fully connected trainable linear layer </a:t>
            </a:r>
          </a:p>
          <a:p>
            <a:r>
              <a:rPr lang="en-GB" dirty="0"/>
              <a:t>Result a sequence recognized by the transformer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5907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B3E42-5CBF-3A57-AAC1-C792BA65A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u="sng" dirty="0"/>
              <a:t>Method : Structure of the network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97CDD-F178-B534-E742-1984FFF01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Classic model + classification head </a:t>
            </a:r>
          </a:p>
          <a:p>
            <a:r>
              <a:rPr lang="en-GB" dirty="0"/>
              <a:t>Adding of a position embedding (give the position of the patch to the model) </a:t>
            </a:r>
          </a:p>
          <a:p>
            <a:r>
              <a:rPr lang="en-GB" dirty="0"/>
              <a:t>Hybrid architecture possible using features map from CNN </a:t>
            </a:r>
          </a:p>
          <a:p>
            <a:r>
              <a:rPr lang="en-GB" dirty="0"/>
              <a:t>For fine-tuning </a:t>
            </a:r>
          </a:p>
          <a:p>
            <a:pPr lvl="1"/>
            <a:r>
              <a:rPr lang="en-GB" dirty="0"/>
              <a:t>Train a model on large data set </a:t>
            </a:r>
          </a:p>
          <a:p>
            <a:pPr lvl="1"/>
            <a:r>
              <a:rPr lang="en-GB" dirty="0"/>
              <a:t>Replace the head with a zero-initialized layer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0A27CB-AB59-0A58-143E-7D50A73AC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343" y="4940049"/>
            <a:ext cx="5917382" cy="174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694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3D449-667D-EFF7-5EE5-5EA5270CE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710" y="139937"/>
            <a:ext cx="10515600" cy="1325563"/>
          </a:xfrm>
        </p:spPr>
        <p:txBody>
          <a:bodyPr/>
          <a:lstStyle/>
          <a:p>
            <a:r>
              <a:rPr lang="en-GB" b="1" i="1" u="sng" dirty="0"/>
              <a:t>Comparison to the state of the art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3E9BE3-E2B8-6222-7807-8F01BC654E28}"/>
              </a:ext>
            </a:extLst>
          </p:cNvPr>
          <p:cNvSpPr txBox="1"/>
          <p:nvPr/>
        </p:nvSpPr>
        <p:spPr>
          <a:xfrm>
            <a:off x="210849" y="5934670"/>
            <a:ext cx="75567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BiT</a:t>
            </a:r>
            <a:r>
              <a:rPr lang="en-GB" dirty="0"/>
              <a:t> = supervised transfer learning with large ResNets</a:t>
            </a:r>
          </a:p>
          <a:p>
            <a:r>
              <a:rPr lang="en-GB" dirty="0"/>
              <a:t>Noisy student = semi-supervised learning large </a:t>
            </a:r>
            <a:r>
              <a:rPr lang="en-GB" dirty="0" err="1"/>
              <a:t>Efficientnet</a:t>
            </a:r>
            <a:endParaRPr lang="en-GB" dirty="0"/>
          </a:p>
          <a:p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A8A4C7-9E7F-D0AE-1EFF-4A329ABF4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991" y="1142681"/>
            <a:ext cx="9088118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132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7EC9A-CFA9-8C91-76A9-31FFAD126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623" y="424759"/>
            <a:ext cx="10515600" cy="1325563"/>
          </a:xfrm>
        </p:spPr>
        <p:txBody>
          <a:bodyPr/>
          <a:lstStyle/>
          <a:p>
            <a:pPr algn="ctr"/>
            <a:r>
              <a:rPr lang="en-GB" b="1" i="1" u="sng" dirty="0"/>
              <a:t>Importance of the size of the pre-training dataset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97F7B7-73AE-4519-5DBE-CFBC95128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662" y="2306545"/>
            <a:ext cx="4401164" cy="32008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318C8E-AEE0-BC1E-599B-EB9D962E3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423" y="2401808"/>
            <a:ext cx="4305901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044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5D30C-3EEE-5255-02B7-9561D77CB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528" y="709992"/>
            <a:ext cx="10515600" cy="4351338"/>
          </a:xfrm>
        </p:spPr>
        <p:txBody>
          <a:bodyPr>
            <a:normAutofit/>
          </a:bodyPr>
          <a:lstStyle/>
          <a:p>
            <a:r>
              <a:rPr lang="en-GB" sz="2000" dirty="0"/>
              <a:t>The learn position embedding shows that patches that are close have similar embedding </a:t>
            </a:r>
          </a:p>
          <a:p>
            <a:pPr lvl="1"/>
            <a:r>
              <a:rPr lang="en-GB" sz="2000" dirty="0"/>
              <a:t>Learn the notion of position with row/columns and sinusoidal </a:t>
            </a:r>
          </a:p>
          <a:p>
            <a:r>
              <a:rPr lang="en-GB" sz="2000" dirty="0"/>
              <a:t>even early in the network, some parts of the model integrate </a:t>
            </a:r>
            <a:r>
              <a:rPr lang="en-GB" sz="2000" b="1" dirty="0"/>
              <a:t>global information</a:t>
            </a:r>
          </a:p>
          <a:p>
            <a:r>
              <a:rPr lang="en-GB" sz="2000" b="1" dirty="0"/>
              <a:t>Some heads stay very local (looking only at nearby patches)</a:t>
            </a:r>
          </a:p>
          <a:p>
            <a:pPr lvl="1"/>
            <a:r>
              <a:rPr lang="en-GB" sz="2000" dirty="0"/>
              <a:t>They behave similarly to convolutional filters in early CNN layers</a:t>
            </a:r>
          </a:p>
          <a:p>
            <a:r>
              <a:rPr lang="en-GB" sz="2000" dirty="0"/>
              <a:t>Attention becomes more global at deeper layers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DFA8AC-90DB-6893-C4C2-33072F07D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830" y="3025444"/>
            <a:ext cx="8664054" cy="38812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49A549-4A4D-DF80-61DE-C5FE6D395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919" y="3303054"/>
            <a:ext cx="1811272" cy="360361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4E48D33-822E-6C63-68E9-9D9C1BEC0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226" y="-259431"/>
            <a:ext cx="10515600" cy="1325563"/>
          </a:xfrm>
        </p:spPr>
        <p:txBody>
          <a:bodyPr/>
          <a:lstStyle/>
          <a:p>
            <a:r>
              <a:rPr lang="en-GB" b="1" i="1" u="sng" dirty="0"/>
              <a:t>Inspecting vision transformer</a:t>
            </a:r>
          </a:p>
        </p:txBody>
      </p:sp>
    </p:spTree>
    <p:extLst>
      <p:ext uri="{BB962C8B-B14F-4D97-AF65-F5344CB8AC3E}">
        <p14:creationId xmlns:p14="http://schemas.microsoft.com/office/powerpoint/2010/main" val="889032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FF6F0-B016-3B26-E05B-2F6DCA468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u="sng" dirty="0"/>
              <a:t>Conclusion</a:t>
            </a:r>
            <a:r>
              <a:rPr lang="en-GB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B754B-A3B4-6D00-5F47-28235120D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Application of transformers to computer vision </a:t>
            </a:r>
          </a:p>
          <a:p>
            <a:r>
              <a:rPr lang="en-GB" dirty="0"/>
              <a:t>Interpret image as a sequence of patches </a:t>
            </a:r>
          </a:p>
          <a:p>
            <a:r>
              <a:rPr lang="en-GB" dirty="0"/>
              <a:t>Work well on large dataset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0961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361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Intro : </vt:lpstr>
      <vt:lpstr>PowerPoint Presentation</vt:lpstr>
      <vt:lpstr>PowerPoint Presentation</vt:lpstr>
      <vt:lpstr>Method : Transformation of the pictures </vt:lpstr>
      <vt:lpstr>Method : Structure of the network </vt:lpstr>
      <vt:lpstr>Comparison to the state of the art </vt:lpstr>
      <vt:lpstr>Importance of the size of the pre-training dataset </vt:lpstr>
      <vt:lpstr>Inspecting vision transformer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Damien GLAIZAL</dc:creator>
  <cp:lastModifiedBy>Damien GLAIZAL</cp:lastModifiedBy>
  <cp:revision>1</cp:revision>
  <dcterms:created xsi:type="dcterms:W3CDTF">2025-11-14T16:22:30Z</dcterms:created>
  <dcterms:modified xsi:type="dcterms:W3CDTF">2025-11-14T17:10:43Z</dcterms:modified>
</cp:coreProperties>
</file>